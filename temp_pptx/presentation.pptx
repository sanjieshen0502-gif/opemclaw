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3"/>
    <p:sldId id="257" r:id="rId4"/>
    <p:sldId id="259" r:id="rId5"/>
    <p:sldId id="262" r:id="rId6"/>
    <p:sldId id="260" r:id="rId7"/>
    <p:sldId id="261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2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image" Target="../media/image4.jpeg"/><Relationship Id="rId5" Type="http://schemas.openxmlformats.org/officeDocument/2006/relationships/tags" Target="../tags/tag69.xml"/><Relationship Id="rId4" Type="http://schemas.openxmlformats.org/officeDocument/2006/relationships/image" Target="../media/image3.jpeg"/><Relationship Id="rId3" Type="http://schemas.openxmlformats.org/officeDocument/2006/relationships/tags" Target="../tags/tag68.xml"/><Relationship Id="rId2" Type="http://schemas.openxmlformats.org/officeDocument/2006/relationships/image" Target="../media/image2.jpeg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75.xml"/><Relationship Id="rId12" Type="http://schemas.openxmlformats.org/officeDocument/2006/relationships/tags" Target="../tags/tag74.xml"/><Relationship Id="rId11" Type="http://schemas.openxmlformats.org/officeDocument/2006/relationships/image" Target="../media/image5.jpeg"/><Relationship Id="rId10" Type="http://schemas.openxmlformats.org/officeDocument/2006/relationships/tags" Target="../tags/tag73.xml"/><Relationship Id="rId1" Type="http://schemas.openxmlformats.org/officeDocument/2006/relationships/tags" Target="../tags/tag6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image" Target="../media/image8.jpeg"/><Relationship Id="rId5" Type="http://schemas.openxmlformats.org/officeDocument/2006/relationships/tags" Target="../tags/tag78.xml"/><Relationship Id="rId4" Type="http://schemas.openxmlformats.org/officeDocument/2006/relationships/image" Target="../media/image7.jpeg"/><Relationship Id="rId3" Type="http://schemas.openxmlformats.org/officeDocument/2006/relationships/tags" Target="../tags/tag77.xml"/><Relationship Id="rId2" Type="http://schemas.openxmlformats.org/officeDocument/2006/relationships/image" Target="../media/image6.jpeg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82.xml"/><Relationship Id="rId1" Type="http://schemas.openxmlformats.org/officeDocument/2006/relationships/tags" Target="../tags/tag7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29540" y="19685"/>
            <a:ext cx="11894185" cy="66167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200" b="1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开场：</a:t>
            </a:r>
            <a:r>
              <a:rPr lang="zh-CN" altLang="en-US" sz="2200" b="1">
                <a:solidFill>
                  <a:schemeClr val="tx1"/>
                </a:solidFill>
                <a:highlight>
                  <a:srgbClr val="FFFF00"/>
                </a:highlight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（痛点</a:t>
            </a:r>
            <a:r>
              <a:rPr lang="en-US" altLang="zh-CN" sz="2200" b="1">
                <a:solidFill>
                  <a:schemeClr val="tx1"/>
                </a:solidFill>
                <a:highlight>
                  <a:srgbClr val="FFFF00"/>
                </a:highlight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KT1</a:t>
            </a:r>
            <a:r>
              <a:rPr lang="zh-CN" altLang="en-US" sz="2200" b="1">
                <a:solidFill>
                  <a:schemeClr val="tx1"/>
                </a:solidFill>
                <a:highlight>
                  <a:srgbClr val="FFFF00"/>
                </a:highlight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）</a:t>
            </a:r>
            <a:r>
              <a:rPr lang="zh-CN" altLang="en-US" sz="22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有没有现在还在喝自来水或者桶装水的？你们可以观察一下你们喝的水里面有没有水垢、杂质或者异味。</a:t>
            </a:r>
            <a:r>
              <a:rPr lang="zh-CN" altLang="en-US" sz="2200" b="1">
                <a:solidFill>
                  <a:schemeClr val="tx1"/>
                </a:solidFill>
                <a:highlight>
                  <a:srgbClr val="FFFF00"/>
                </a:highlight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（痛点KT2）</a:t>
            </a:r>
            <a:r>
              <a:rPr lang="zh-CN" altLang="en-US" sz="22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自来水从水厂出来，要经过楼顶水箱、生锈的水管、老化的水龙头，最后才到你杯子里。所以铁锈、泥沙、重金属、微生物都有可能遇到！特别是老小区更严重。你以为买桶装水就能解决了吗？很多桶装水也是自来水灌装的。那如果把水烧开喝可以吗？把水烧开确实能解决菌菌，但是水垢重金属去不掉啊！所以很多人会买净水器来净化水。</a:t>
            </a:r>
            <a:r>
              <a:rPr lang="zh-CN" altLang="en-US" sz="2200" b="1">
                <a:highlight>
                  <a:srgbClr val="FFFF00"/>
                </a:highlight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（背书</a:t>
            </a:r>
            <a:r>
              <a:rPr lang="en-US" altLang="zh-CN" sz="2200" b="1">
                <a:highlight>
                  <a:srgbClr val="FFFF00"/>
                </a:highlight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KT</a:t>
            </a:r>
            <a:r>
              <a:rPr lang="zh-CN" altLang="en-US" sz="2200" b="1">
                <a:highlight>
                  <a:srgbClr val="FFFF00"/>
                </a:highlight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）</a:t>
            </a:r>
            <a:endParaRPr lang="zh-CN" altLang="en-US" sz="2200" b="1"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r>
              <a:rPr lang="zh-CN" altLang="en-US" sz="22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今天我们为什么做美的净水器专场，就是为了让大家喝到的每一口水都是干净、安全放心的！</a:t>
            </a:r>
            <a:endParaRPr lang="zh-CN" altLang="en-US" sz="2200" b="1"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r>
              <a:rPr lang="zh-CN" altLang="en-US" sz="22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美的是世界五百强、国民大品牌！所以我才会推荐！（</a:t>
            </a:r>
            <a:r>
              <a:rPr lang="zh-CN" altLang="en-US" sz="2200" b="1">
                <a:highlight>
                  <a:srgbClr val="FFFF00"/>
                </a:highlight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团体标准</a:t>
            </a:r>
            <a:r>
              <a:rPr lang="en-US" altLang="zh-CN" sz="2200" b="1">
                <a:highlight>
                  <a:srgbClr val="FFFF00"/>
                </a:highlight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KT</a:t>
            </a:r>
            <a:r>
              <a:rPr lang="zh-CN" altLang="en-US" sz="22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）现在很多净水器为了省事直接在滤芯里加阻垢剂！我在市面上找了一圈只有美的是</a:t>
            </a:r>
            <a:r>
              <a:rPr lang="en-US" altLang="zh-CN" sz="22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0</a:t>
            </a:r>
            <a:r>
              <a:rPr lang="zh-CN" altLang="en-US" sz="22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阻垢剂的！因为美的是无阻垢剂团体标准的</a:t>
            </a:r>
            <a:r>
              <a:rPr lang="zh-CN" altLang="en-US" sz="22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起草单位！咱们买净水器本来就是为了健康，所以肯定是要选美的这种</a:t>
            </a:r>
            <a:r>
              <a:rPr lang="en-US" altLang="zh-CN" sz="22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0</a:t>
            </a:r>
            <a:r>
              <a:rPr lang="zh-CN" altLang="en-US" sz="22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阻垢剂、</a:t>
            </a:r>
            <a:r>
              <a:rPr lang="en-US" altLang="zh-CN" sz="22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0</a:t>
            </a:r>
            <a:r>
              <a:rPr lang="zh-CN" altLang="en-US" sz="22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添加的净水器。</a:t>
            </a:r>
            <a:endParaRPr lang="zh-CN" altLang="en-US" sz="2200" b="1"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r>
              <a:rPr lang="zh-CN" altLang="en-US" sz="2200" b="1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展示滤芯：</a:t>
            </a:r>
            <a:r>
              <a:rPr lang="zh-CN" altLang="en-US" sz="2200" b="1">
                <a:highlight>
                  <a:srgbClr val="FFFF00"/>
                </a:highlight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（对比道具/KT）</a:t>
            </a:r>
            <a:r>
              <a:rPr lang="zh-CN" altLang="en-US" sz="22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很多人没有用过净水器，你们直接看这三根滤芯！是不是特别直观？使用前真的干干净净的，但是过滤</a:t>
            </a:r>
            <a:r>
              <a:rPr lang="en-US" altLang="zh-CN" sz="22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6</a:t>
            </a:r>
            <a:r>
              <a:rPr lang="zh-CN" altLang="en-US" sz="22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个月就开始变黄，一年之后直接变成这种黑色！如果没有净水器帮你过滤，那你是不是得自己用身体过滤？真的太脏了！</a:t>
            </a:r>
            <a:r>
              <a:rPr lang="zh-CN" altLang="en-US" sz="2200" b="1">
                <a:highlight>
                  <a:srgbClr val="FFFF00"/>
                </a:highlight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（过滤</a:t>
            </a:r>
            <a:r>
              <a:rPr lang="en-US" altLang="zh-CN" sz="2200" b="1">
                <a:highlight>
                  <a:srgbClr val="FFFF00"/>
                </a:highlight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KT</a:t>
            </a:r>
            <a:r>
              <a:rPr lang="zh-CN" altLang="en-US" sz="2200" b="1">
                <a:highlight>
                  <a:srgbClr val="FFFF00"/>
                </a:highlight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）</a:t>
            </a:r>
            <a:endParaRPr lang="zh-CN" altLang="en-US" sz="2200" b="1"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r>
              <a:rPr lang="zh-CN" altLang="en-US" sz="22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品牌方：</a:t>
            </a:r>
            <a:r>
              <a:rPr lang="zh-CN" altLang="en-US" sz="2200" b="1">
                <a:solidFill>
                  <a:srgbClr val="00B05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没错虽然自来水咱们肉眼看是干净的但是经过</a:t>
            </a:r>
            <a:r>
              <a:rPr lang="zh-CN" altLang="en-US" sz="2200" b="1">
                <a:solidFill>
                  <a:srgbClr val="00B05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过滤就能发现里面其实有很多铁锈、泥沙甚至是重金属微生物！</a:t>
            </a:r>
            <a:r>
              <a:rPr lang="zh-CN" altLang="en-US" sz="2200" b="1">
                <a:solidFill>
                  <a:srgbClr val="00B05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咱们美的</a:t>
            </a:r>
            <a:r>
              <a:rPr lang="en-US" altLang="zh-CN" sz="2200" b="1">
                <a:solidFill>
                  <a:srgbClr val="00B05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P80</a:t>
            </a:r>
            <a:r>
              <a:rPr lang="zh-CN" altLang="en-US" sz="2200" b="1">
                <a:solidFill>
                  <a:srgbClr val="00B05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净水器搭载的是</a:t>
            </a:r>
            <a:r>
              <a:rPr lang="en-US" altLang="zh-CN" sz="2200" b="1">
                <a:solidFill>
                  <a:srgbClr val="00B05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RO</a:t>
            </a:r>
            <a:r>
              <a:rPr lang="zh-CN" altLang="en-US" sz="2200" b="1">
                <a:solidFill>
                  <a:srgbClr val="00B05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反渗透膜，过滤精度达到</a:t>
            </a:r>
            <a:r>
              <a:rPr lang="en-US" altLang="zh-CN" sz="2200" b="1">
                <a:solidFill>
                  <a:srgbClr val="00B05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0.2</a:t>
            </a:r>
            <a:r>
              <a:rPr lang="zh-CN" altLang="en-US" sz="2200" b="1">
                <a:solidFill>
                  <a:srgbClr val="00B05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微米，相当于头发丝的百分之一！所以看得见的泥沙铁锈，看不见的重金属、微生物、抗生素，统统都可以过滤，一共能滤除</a:t>
            </a:r>
            <a:r>
              <a:rPr lang="en-US" altLang="zh-CN" sz="2200" b="1">
                <a:solidFill>
                  <a:srgbClr val="00B05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140</a:t>
            </a:r>
            <a:r>
              <a:rPr lang="zh-CN" altLang="en-US" sz="2200" b="1">
                <a:solidFill>
                  <a:srgbClr val="00B05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种有害物质！整机</a:t>
            </a:r>
            <a:r>
              <a:rPr lang="en-US" altLang="zh-CN" sz="2200" b="1">
                <a:solidFill>
                  <a:srgbClr val="00B05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0</a:t>
            </a:r>
            <a:r>
              <a:rPr lang="zh-CN" altLang="en-US" sz="2200" b="1">
                <a:solidFill>
                  <a:srgbClr val="00B05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添加、</a:t>
            </a:r>
            <a:r>
              <a:rPr lang="en-US" altLang="zh-CN" sz="2200" b="1">
                <a:solidFill>
                  <a:srgbClr val="00B05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0</a:t>
            </a:r>
            <a:r>
              <a:rPr lang="zh-CN" altLang="en-US" sz="2200" b="1">
                <a:solidFill>
                  <a:srgbClr val="00B05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阻垢剂、</a:t>
            </a:r>
            <a:r>
              <a:rPr lang="en-US" altLang="zh-CN" sz="2200" b="1">
                <a:solidFill>
                  <a:srgbClr val="00B05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0</a:t>
            </a:r>
            <a:r>
              <a:rPr lang="zh-CN" altLang="en-US" sz="2200" b="1">
                <a:solidFill>
                  <a:srgbClr val="00B05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陈水！</a:t>
            </a:r>
            <a:endParaRPr lang="zh-CN" altLang="en-US" sz="2200" b="1"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r>
              <a:rPr lang="en-US" altLang="zh-CN" sz="2200" b="1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净水实验：</a:t>
            </a:r>
            <a:r>
              <a:rPr lang="zh-CN" altLang="en-US" sz="22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所以一定要用净水器！咱们直接</a:t>
            </a:r>
            <a:r>
              <a:rPr lang="zh-CN" altLang="en-US" sz="22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现场看看</a:t>
            </a:r>
            <a:r>
              <a:rPr lang="zh-CN" altLang="en-US" sz="22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这个净水器的净水效果！</a:t>
            </a:r>
            <a:endParaRPr lang="zh-CN" altLang="en-US" sz="2200" b="1"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endParaRPr lang="zh-CN" altLang="en-US" sz="2200" b="1"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endParaRPr lang="zh-CN" altLang="en-US" sz="2200" b="1"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29540" y="19685"/>
            <a:ext cx="11894185" cy="66167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2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品牌方：</a:t>
            </a:r>
            <a:r>
              <a:rPr lang="zh-CN" altLang="en-US" sz="2200" b="1">
                <a:solidFill>
                  <a:srgbClr val="00B05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没问题派哥，我们直接现场实验！这是一箱干净的自来水对吧？但是现实中自来水肯定不长这样。我们直接模拟一下最脏的</a:t>
            </a:r>
            <a:r>
              <a:rPr lang="zh-CN" altLang="en-US" sz="2200" b="1">
                <a:solidFill>
                  <a:srgbClr val="00B05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自来水！</a:t>
            </a:r>
            <a:endParaRPr lang="zh-CN" altLang="en-US" sz="2200" b="1">
              <a:solidFill>
                <a:srgbClr val="00B050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r>
              <a:rPr lang="zh-CN" altLang="en-US" sz="22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这个是铁锈、还有重金属、甚至是微生物</a:t>
            </a:r>
            <a:r>
              <a:rPr lang="zh-CN" altLang="en-US" sz="22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和菌菌。</a:t>
            </a:r>
            <a:endParaRPr lang="zh-CN" altLang="en-US" sz="2200" b="1"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r>
              <a:rPr lang="zh-CN" altLang="en-US" sz="22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天呐，你们自己看！这箱水现在是什么颜色？太脏了吧！这个水的</a:t>
            </a:r>
            <a:r>
              <a:rPr lang="en-US" altLang="zh-CN" sz="22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TDS</a:t>
            </a:r>
            <a:r>
              <a:rPr lang="zh-CN" altLang="en-US" sz="22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值都</a:t>
            </a:r>
            <a:r>
              <a:rPr lang="en-US" altLang="zh-CN" sz="22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200</a:t>
            </a:r>
            <a:r>
              <a:rPr lang="zh-CN" altLang="en-US" sz="22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多了！这个值是越小越干净！正常我们的纯净水应该是</a:t>
            </a:r>
            <a:r>
              <a:rPr lang="en-US" altLang="zh-CN" sz="22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10</a:t>
            </a:r>
            <a:r>
              <a:rPr lang="zh-CN" altLang="en-US" sz="22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左右</a:t>
            </a:r>
            <a:endParaRPr lang="zh-CN" altLang="en-US" sz="2200" b="1"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r>
              <a:rPr lang="zh-CN" altLang="en-US" sz="22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品牌方：</a:t>
            </a:r>
            <a:r>
              <a:rPr lang="zh-CN" altLang="en-US" sz="2200" b="1">
                <a:solidFill>
                  <a:srgbClr val="00B05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别怕派哥！咱们现在把这杯脏水连接上美的</a:t>
            </a:r>
            <a:r>
              <a:rPr lang="en-US" altLang="zh-CN" sz="2200" b="1">
                <a:solidFill>
                  <a:srgbClr val="00B05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P80</a:t>
            </a:r>
            <a:r>
              <a:rPr lang="zh-CN" altLang="en-US" sz="2200" b="1">
                <a:solidFill>
                  <a:srgbClr val="00B05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净水器，看看能不能净化！</a:t>
            </a:r>
            <a:endParaRPr lang="zh-CN" altLang="en-US" sz="2200" b="1">
              <a:solidFill>
                <a:srgbClr val="00B050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r>
              <a:rPr lang="zh-CN" altLang="en-US" sz="22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哇已经开始净化了，这么快就出水了，真的是</a:t>
            </a:r>
            <a:r>
              <a:rPr lang="zh-CN" altLang="en-US" sz="22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干净透明的！但是我们不能只看，还要测量一下他的</a:t>
            </a:r>
            <a:r>
              <a:rPr lang="en-US" altLang="zh-CN" sz="22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TDS</a:t>
            </a:r>
            <a:r>
              <a:rPr lang="zh-CN" altLang="en-US" sz="22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值看到底干不干净！哇这个</a:t>
            </a:r>
            <a:r>
              <a:rPr lang="en-US" altLang="zh-CN" sz="22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TDS</a:t>
            </a:r>
            <a:r>
              <a:rPr lang="zh-CN" altLang="en-US" sz="22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值只有个位数！比刚刚那杯脏水干净了</a:t>
            </a:r>
            <a:r>
              <a:rPr lang="zh-CN" altLang="en-US" sz="22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上百倍！</a:t>
            </a:r>
            <a:endParaRPr lang="zh-CN" altLang="en-US" sz="2200" b="1"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r>
              <a:rPr lang="zh-CN" altLang="en-US" sz="2200" b="1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净水模式：</a:t>
            </a:r>
            <a:r>
              <a:rPr lang="zh-CN" altLang="en-US" sz="22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品牌方：</a:t>
            </a:r>
            <a:r>
              <a:rPr lang="zh-CN" altLang="en-US" sz="2200" b="1">
                <a:highlight>
                  <a:srgbClr val="FFFF00"/>
                </a:highlight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（三水</a:t>
            </a:r>
            <a:r>
              <a:rPr lang="en-US" altLang="zh-CN" sz="2200" b="1">
                <a:highlight>
                  <a:srgbClr val="FFFF00"/>
                </a:highlight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KT</a:t>
            </a:r>
            <a:r>
              <a:rPr lang="zh-CN" altLang="en-US" sz="2200" b="1">
                <a:highlight>
                  <a:srgbClr val="FFFF00"/>
                </a:highlight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）</a:t>
            </a:r>
            <a:r>
              <a:rPr lang="zh-CN" altLang="en-US" sz="2200" b="1">
                <a:solidFill>
                  <a:srgbClr val="00B05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没错派哥，不管是你肉眼看还是仪器测量都很干净。而且咱们不仅仅是干净，还能满足一家三代的用水需求。这一台机器就可以净化出纯净水、鲜矿水、弱碱水！</a:t>
            </a:r>
            <a:endParaRPr lang="zh-CN" altLang="en-US" sz="2200" b="1">
              <a:solidFill>
                <a:srgbClr val="00B050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r>
              <a:rPr lang="zh-CN" altLang="en-US" sz="22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那这个确实很实用！</a:t>
            </a:r>
            <a:r>
              <a:rPr lang="zh-CN" altLang="en-US" sz="22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因为我们家对喝水要求很多！家里面宝宝泡奶粉老人吃药要用纯净水，因为没有杂质很干净。我自己泡茶做饭要用矿泉水，</a:t>
            </a:r>
            <a:r>
              <a:rPr lang="zh-CN" altLang="en-US" sz="22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好茶一定要配好水，几百块的茶叶，你用自来水泡，真的是糟蹋！用矿泉水泡，那才是享受！</a:t>
            </a:r>
            <a:r>
              <a:rPr lang="zh-CN" altLang="en-US" sz="22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因为有风味不容易发苦！然后我老婆爱喝</a:t>
            </a:r>
            <a:r>
              <a:rPr lang="en-US" altLang="zh-CN" sz="22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8+1</a:t>
            </a:r>
            <a:r>
              <a:rPr lang="zh-CN" altLang="en-US" sz="22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经常熬夜</a:t>
            </a:r>
            <a:r>
              <a:rPr lang="zh-CN" altLang="en-US" sz="22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还喜欢吃高油高糖</a:t>
            </a:r>
            <a:r>
              <a:rPr lang="zh-CN" altLang="en-US" sz="22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所以</a:t>
            </a:r>
            <a:r>
              <a:rPr lang="zh-CN" altLang="en-US" sz="22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要喝弱碱水，因为弱碱水可以帮助身体酸碱平衡。</a:t>
            </a:r>
            <a:endParaRPr lang="zh-CN" altLang="en-US" sz="2200" b="1"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r>
              <a:rPr lang="zh-CN" altLang="en-US" sz="22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品牌方：</a:t>
            </a:r>
            <a:r>
              <a:rPr lang="zh-CN" altLang="en-US" sz="2200" b="1">
                <a:solidFill>
                  <a:srgbClr val="00B05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当然没问题派哥，咱们美的</a:t>
            </a:r>
            <a:r>
              <a:rPr lang="en-US" altLang="zh-CN" sz="2200" b="1">
                <a:solidFill>
                  <a:srgbClr val="00B05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P80</a:t>
            </a:r>
            <a:r>
              <a:rPr lang="zh-CN" altLang="en-US" sz="2200" b="1">
                <a:solidFill>
                  <a:srgbClr val="00B05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净水器是一机三水。这边有三个按钮，分别是纯净水、鲜矿水、弱碱水！还可以定量出水！</a:t>
            </a:r>
            <a:r>
              <a:rPr lang="en-US" altLang="zh-CN" sz="2200" b="1">
                <a:solidFill>
                  <a:srgbClr val="00B05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1200G</a:t>
            </a:r>
            <a:r>
              <a:rPr lang="zh-CN" altLang="en-US" sz="2200" b="1">
                <a:solidFill>
                  <a:srgbClr val="00B05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大通量，</a:t>
            </a:r>
            <a:r>
              <a:rPr lang="en-US" altLang="zh-CN" sz="2200" b="1">
                <a:solidFill>
                  <a:srgbClr val="00B05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2.7</a:t>
            </a:r>
            <a:r>
              <a:rPr lang="zh-CN" altLang="en-US" sz="2200" b="1">
                <a:solidFill>
                  <a:srgbClr val="00B05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秒就能接一杯水！还有</a:t>
            </a:r>
            <a:r>
              <a:rPr lang="en-US" altLang="zh-CN" sz="2200" b="1">
                <a:solidFill>
                  <a:srgbClr val="00B05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AI</a:t>
            </a:r>
            <a:r>
              <a:rPr lang="zh-CN" altLang="en-US" sz="2200" b="1">
                <a:solidFill>
                  <a:srgbClr val="00B05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零陈水功能，让你每次喝的都是新鲜的水！</a:t>
            </a:r>
            <a:endParaRPr lang="zh-CN" altLang="en-US" sz="2200" b="1">
              <a:solidFill>
                <a:srgbClr val="00B050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endParaRPr lang="zh-CN" altLang="en-US" sz="2200" b="1">
              <a:solidFill>
                <a:srgbClr val="00B050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29540" y="19685"/>
            <a:ext cx="11894185" cy="66167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300" b="1">
                <a:solidFill>
                  <a:srgbClr val="FF0000"/>
                </a:solidFill>
                <a:highlight>
                  <a:srgbClr val="FFFF00"/>
                </a:highlight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模拟的价格和折扣</a:t>
            </a:r>
            <a:endParaRPr lang="zh-CN" altLang="en-US" sz="2300" b="1">
              <a:solidFill>
                <a:srgbClr val="FF0000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r>
              <a:rPr lang="zh-CN" altLang="en-US" sz="2300" b="1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开价：</a:t>
            </a:r>
            <a:r>
              <a:rPr lang="zh-CN" altLang="en-US" sz="23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那咱们这套净水器多少钱呢？</a:t>
            </a:r>
            <a:endParaRPr lang="zh-CN" altLang="en-US" sz="2300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r>
              <a:rPr lang="zh-CN" altLang="en-US" sz="2300" b="1">
                <a:solidFill>
                  <a:srgbClr val="00B05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我们美的</a:t>
            </a:r>
            <a:r>
              <a:rPr lang="en-US" altLang="zh-CN" sz="2300" b="1">
                <a:solidFill>
                  <a:srgbClr val="00B05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P80</a:t>
            </a:r>
            <a:r>
              <a:rPr lang="zh-CN" altLang="en-US" sz="2300" b="1">
                <a:solidFill>
                  <a:srgbClr val="00B05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净水器都是统一价格</a:t>
            </a:r>
            <a:r>
              <a:rPr lang="en-US" altLang="zh-CN" sz="2300" b="1">
                <a:solidFill>
                  <a:srgbClr val="00B05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5299</a:t>
            </a:r>
            <a:r>
              <a:rPr lang="zh-CN" altLang="en-US" sz="2300" b="1">
                <a:solidFill>
                  <a:srgbClr val="00B05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的，除了大促日常</a:t>
            </a:r>
            <a:r>
              <a:rPr lang="zh-CN" altLang="en-US" sz="2300" b="1">
                <a:solidFill>
                  <a:srgbClr val="00B05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是不会去动价格的。</a:t>
            </a:r>
            <a:endParaRPr lang="zh-CN" altLang="en-US" sz="2300" b="1">
              <a:solidFill>
                <a:srgbClr val="00B050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r>
              <a:rPr lang="zh-CN" altLang="en-US" sz="23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但是我们今天专场，你肯定得对标大促的价格。不然这五千多太贵了！这样今天也别</a:t>
            </a:r>
            <a:r>
              <a:rPr lang="en-US" altLang="zh-CN" sz="23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5299</a:t>
            </a:r>
            <a:r>
              <a:rPr lang="zh-CN" altLang="en-US" sz="23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了，直接打个</a:t>
            </a:r>
            <a:r>
              <a:rPr lang="en-US" altLang="zh-CN" sz="23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8</a:t>
            </a:r>
            <a:r>
              <a:rPr lang="zh-CN" altLang="en-US" sz="23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折</a:t>
            </a:r>
            <a:r>
              <a:rPr lang="en-US" altLang="zh-CN" sz="23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4239</a:t>
            </a:r>
            <a:r>
              <a:rPr lang="zh-CN" altLang="en-US" sz="23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。然后你们这个</a:t>
            </a:r>
            <a:r>
              <a:rPr lang="en-US" altLang="zh-CN" sz="23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MPC</a:t>
            </a:r>
            <a:r>
              <a:rPr lang="zh-CN" altLang="en-US" sz="23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滤芯我知道是每年换一次，换一次要</a:t>
            </a:r>
            <a:r>
              <a:rPr lang="en-US" altLang="zh-CN" sz="23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299</a:t>
            </a:r>
            <a:r>
              <a:rPr lang="zh-CN" altLang="en-US" sz="23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，你也给我送</a:t>
            </a:r>
            <a:r>
              <a:rPr lang="en-US" altLang="zh-CN" sz="23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2</a:t>
            </a:r>
            <a:r>
              <a:rPr lang="zh-CN" altLang="en-US" sz="23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个，这样粉丝买回去</a:t>
            </a:r>
            <a:r>
              <a:rPr lang="en-US" altLang="zh-CN" sz="23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2</a:t>
            </a:r>
            <a:r>
              <a:rPr lang="zh-CN" altLang="en-US" sz="23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年都不用买新</a:t>
            </a:r>
            <a:r>
              <a:rPr lang="zh-CN" altLang="en-US" sz="23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滤芯。而且今天我们美的净水器专场要让大家买得起美的高端</a:t>
            </a:r>
            <a:r>
              <a:rPr lang="en-US" altLang="zh-CN" sz="23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P80</a:t>
            </a:r>
            <a:r>
              <a:rPr lang="zh-CN" altLang="en-US" sz="23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净水器，所以得再补贴</a:t>
            </a:r>
            <a:r>
              <a:rPr lang="en-US" altLang="zh-CN" sz="23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800</a:t>
            </a:r>
            <a:r>
              <a:rPr lang="zh-CN" altLang="en-US" sz="23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元。最终到手价格是</a:t>
            </a:r>
            <a:r>
              <a:rPr lang="en-US" altLang="zh-CN" sz="23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3499</a:t>
            </a:r>
            <a:r>
              <a:rPr lang="zh-CN" altLang="en-US" sz="23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元！但是这个限时补贴价格只有</a:t>
            </a:r>
            <a:r>
              <a:rPr lang="en-US" altLang="zh-CN" sz="23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500</a:t>
            </a:r>
            <a:r>
              <a:rPr lang="zh-CN" altLang="en-US" sz="23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台，多一台都没有一定要拼手速来</a:t>
            </a:r>
            <a:endParaRPr lang="zh-CN" altLang="en-US" sz="2300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r>
              <a:rPr lang="en-US" altLang="zh-CN" sz="2300" b="1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321</a:t>
            </a:r>
            <a:r>
              <a:rPr lang="zh-CN" altLang="en-US" sz="2300" b="1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上链接</a:t>
            </a:r>
            <a:r>
              <a:rPr lang="en-US" altLang="zh-CN" sz="2300" b="1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 </a:t>
            </a:r>
            <a:r>
              <a:rPr lang="zh-CN" altLang="en-US" sz="2300" b="1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助播教拍</a:t>
            </a:r>
            <a:endParaRPr lang="zh-CN" altLang="en-US" sz="2300" b="1">
              <a:solidFill>
                <a:srgbClr val="FF0000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endParaRPr lang="zh-CN" altLang="en-US" sz="2300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r>
              <a:rPr lang="zh-CN" altLang="en-US" sz="2300" b="1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发货时效</a:t>
            </a:r>
            <a:r>
              <a:rPr lang="en-US" altLang="zh-CN" sz="2300" b="1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+</a:t>
            </a:r>
            <a:r>
              <a:rPr lang="zh-CN" altLang="en-US" sz="2300" b="1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售后保障</a:t>
            </a:r>
            <a:r>
              <a:rPr lang="zh-CN" altLang="en-US" sz="23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整机三年、核心零部件五年，</a:t>
            </a:r>
            <a:r>
              <a:rPr lang="en-US" altLang="zh-CN" sz="23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MPC</a:t>
            </a:r>
            <a:r>
              <a:rPr lang="zh-CN" altLang="en-US" sz="23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滤芯一年换一次</a:t>
            </a:r>
            <a:r>
              <a:rPr lang="en-US" altLang="zh-CN" sz="23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RO</a:t>
            </a:r>
            <a:r>
              <a:rPr lang="zh-CN" altLang="en-US" sz="23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膜六年换一次，总共可以净化</a:t>
            </a:r>
            <a:r>
              <a:rPr lang="en-US" altLang="zh-CN" sz="23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44</a:t>
            </a:r>
            <a:r>
              <a:rPr lang="zh-CN" altLang="en-US" sz="23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吨水</a:t>
            </a:r>
            <a:endParaRPr lang="zh-CN" altLang="en-US" sz="2300" b="1">
              <a:solidFill>
                <a:srgbClr val="FF0000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r>
              <a:rPr lang="zh-CN" altLang="en-US" sz="2300" b="1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人群痛点</a:t>
            </a:r>
            <a:r>
              <a:rPr lang="zh-CN" altLang="en-US" sz="23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：自来水/桶装水里面有</a:t>
            </a:r>
            <a:r>
              <a:rPr lang="zh-CN" altLang="en-US" sz="23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水垢、杂质、异味、铁锈、泥沙、重金属、微生物</a:t>
            </a:r>
            <a:endParaRPr lang="zh-CN" altLang="en-US" sz="2300" b="1"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  <a:p>
            <a:r>
              <a:rPr lang="zh-CN" altLang="en-US" sz="2300" b="1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竞品痛点</a:t>
            </a:r>
            <a:r>
              <a:rPr lang="zh-CN" altLang="en-US" sz="23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：很多净水器天添</a:t>
            </a:r>
            <a:r>
              <a:rPr lang="zh-CN" altLang="en-US" sz="23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加了阻垢剂！只有美的是</a:t>
            </a:r>
            <a:r>
              <a:rPr lang="en-US" altLang="zh-CN" sz="23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0</a:t>
            </a:r>
            <a:r>
              <a:rPr lang="zh-CN" altLang="en-US" sz="23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阻垢剂！</a:t>
            </a:r>
            <a:endParaRPr lang="zh-CN" altLang="en-US" sz="2300" b="1"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  <a:p>
            <a:r>
              <a:rPr lang="zh-CN" altLang="en-US" sz="2300" b="1">
                <a:solidFill>
                  <a:srgbClr val="FF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统计名额加库存上链接</a:t>
            </a:r>
            <a:endParaRPr lang="zh-CN" altLang="en-US" sz="2300" b="1">
              <a:solidFill>
                <a:srgbClr val="FF0000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76a1f67d35b7fc697cf8efe40586eea3"/>
          <p:cNvPicPr>
            <a:picLocks noChangeAspect="1"/>
          </p:cNvPicPr>
          <p:nvPr/>
        </p:nvPicPr>
        <p:blipFill>
          <a:blip r:embed="rId1"/>
          <a:srcRect l="19531" t="25750" b="23880"/>
          <a:stretch>
            <a:fillRect/>
          </a:stretch>
        </p:blipFill>
        <p:spPr>
          <a:xfrm>
            <a:off x="3843655" y="928370"/>
            <a:ext cx="3554730" cy="481393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67665" y="152400"/>
            <a:ext cx="260477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solidFill>
                  <a:srgbClr val="FF0000"/>
                </a:solidFill>
                <a:highlight>
                  <a:srgbClr val="FFFF00"/>
                </a:highlight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展示滤芯</a:t>
            </a:r>
            <a:endParaRPr lang="zh-CN" altLang="en-US" sz="2500" b="1">
              <a:solidFill>
                <a:srgbClr val="FF0000"/>
              </a:solidFill>
              <a:highlight>
                <a:srgbClr val="FFFF00"/>
              </a:highlight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73710" y="6277610"/>
            <a:ext cx="76803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  <a:latin typeface="PingFang SC Semibold" panose="020B0400000000000000" charset="-122"/>
                <a:ea typeface="PingFang SC Semibold" panose="020B0400000000000000" charset="-122"/>
              </a:rPr>
              <a:t>道具：三根</a:t>
            </a:r>
            <a:r>
              <a:rPr lang="en-US" altLang="zh-CN" b="1">
                <a:solidFill>
                  <a:srgbClr val="FF0000"/>
                </a:solidFill>
                <a:highlight>
                  <a:srgbClr val="FFFF00"/>
                </a:highlight>
                <a:latin typeface="PingFang SC Semibold" panose="020B0400000000000000" charset="-122"/>
                <a:ea typeface="PingFang SC Semibold" panose="020B0400000000000000" charset="-122"/>
              </a:rPr>
              <a:t>MPC</a:t>
            </a:r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  <a:latin typeface="PingFang SC Semibold" panose="020B0400000000000000" charset="-122"/>
                <a:ea typeface="PingFang SC Semibold" panose="020B0400000000000000" charset="-122"/>
              </a:rPr>
              <a:t>滤芯（可以用</a:t>
            </a:r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  <a:latin typeface="PingFang SC Semibold" panose="020B0400000000000000" charset="-122"/>
                <a:ea typeface="PingFang SC Semibold" panose="020B0400000000000000" charset="-122"/>
              </a:rPr>
              <a:t>咖啡染色）</a:t>
            </a:r>
            <a:endParaRPr lang="zh-CN" altLang="en-US" b="1">
              <a:solidFill>
                <a:srgbClr val="FF0000"/>
              </a:solidFill>
              <a:highlight>
                <a:srgbClr val="FFFF00"/>
              </a:highlight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3b25fb742140b4813dda23a07157e68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6370" t="31991" r="48317" b="27500"/>
          <a:stretch>
            <a:fillRect/>
          </a:stretch>
        </p:blipFill>
        <p:spPr>
          <a:xfrm>
            <a:off x="367665" y="1267460"/>
            <a:ext cx="2279650" cy="4409440"/>
          </a:xfrm>
          <a:prstGeom prst="rect">
            <a:avLst/>
          </a:prstGeom>
        </p:spPr>
      </p:pic>
      <p:pic>
        <p:nvPicPr>
          <p:cNvPr id="5" name="图片 4" descr="a59f3ae123090c4ab90fbab115cdb84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5589" t="31991" r="49099" b="24037"/>
          <a:stretch>
            <a:fillRect/>
          </a:stretch>
        </p:blipFill>
        <p:spPr>
          <a:xfrm>
            <a:off x="3157220" y="1274445"/>
            <a:ext cx="2279650" cy="4408170"/>
          </a:xfrm>
          <a:prstGeom prst="rect">
            <a:avLst/>
          </a:prstGeom>
        </p:spPr>
      </p:pic>
      <p:pic>
        <p:nvPicPr>
          <p:cNvPr id="6" name="图片 5" descr="b7cac061171994a597c19837e762ca2b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l="5228" t="29926" r="49459" b="26972"/>
          <a:stretch>
            <a:fillRect/>
          </a:stretch>
        </p:blipFill>
        <p:spPr>
          <a:xfrm>
            <a:off x="6125210" y="1274445"/>
            <a:ext cx="2124710" cy="437261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367665" y="709930"/>
            <a:ext cx="1511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倒“铁锈”</a:t>
            </a:r>
            <a:endParaRPr lang="zh-CN" altLang="en-US" b="1">
              <a:solidFill>
                <a:srgbClr val="FF0000"/>
              </a:solidFill>
              <a:highlight>
                <a:srgbClr val="FFFF00"/>
              </a:highlight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67665" y="152400"/>
            <a:ext cx="260477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solidFill>
                  <a:srgbClr val="FF0000"/>
                </a:solidFill>
                <a:highlight>
                  <a:srgbClr val="FFFF00"/>
                </a:highlight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净水实验</a:t>
            </a:r>
            <a:endParaRPr lang="zh-CN" altLang="en-US" sz="2500" b="1">
              <a:solidFill>
                <a:srgbClr val="FF0000"/>
              </a:solidFill>
              <a:highlight>
                <a:srgbClr val="FFFF00"/>
              </a:highlight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3541395" y="709930"/>
            <a:ext cx="1511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放“</a:t>
            </a:r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重金属”</a:t>
            </a:r>
            <a:endParaRPr lang="zh-CN" altLang="en-US" b="1">
              <a:solidFill>
                <a:srgbClr val="FF0000"/>
              </a:solidFill>
              <a:highlight>
                <a:srgbClr val="FFFF00"/>
              </a:highlight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6327775" y="709930"/>
            <a:ext cx="1511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倒“</a:t>
            </a:r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微生物”</a:t>
            </a:r>
            <a:endParaRPr lang="zh-CN" altLang="en-US" b="1">
              <a:solidFill>
                <a:srgbClr val="FF0000"/>
              </a:solidFill>
              <a:highlight>
                <a:srgbClr val="FFFF00"/>
              </a:highlight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pic>
        <p:nvPicPr>
          <p:cNvPr id="12" name="图片 11" descr="24539d0f933f31711826d3cce535616b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8855075" y="1274445"/>
            <a:ext cx="2280285" cy="4402455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8856345" y="709930"/>
            <a:ext cx="22790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污染水和净化水</a:t>
            </a:r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对比</a:t>
            </a:r>
            <a:endParaRPr lang="zh-CN" altLang="en-US" b="1">
              <a:solidFill>
                <a:srgbClr val="FF0000"/>
              </a:solidFill>
              <a:highlight>
                <a:srgbClr val="FFFF00"/>
              </a:highlight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73710" y="6277610"/>
            <a:ext cx="76803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  <a:latin typeface="PingFang SC Semibold" panose="020B0400000000000000" charset="-122"/>
                <a:ea typeface="PingFang SC Semibold" panose="020B0400000000000000" charset="-122"/>
              </a:rPr>
              <a:t>道具：棕色液体、黑色金属、绿色液体</a:t>
            </a:r>
            <a:endParaRPr lang="zh-CN" altLang="en-US" b="1">
              <a:solidFill>
                <a:srgbClr val="FF0000"/>
              </a:solidFill>
              <a:highlight>
                <a:srgbClr val="FFFF00"/>
              </a:highlight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</p:spTree>
    <p:custDataLst>
      <p:tags r:id="rId1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44b9c2f3d8b37810b3b4898e1c3ae25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22250" y="1177925"/>
            <a:ext cx="2898775" cy="5152390"/>
          </a:xfrm>
          <a:prstGeom prst="rect">
            <a:avLst/>
          </a:prstGeom>
        </p:spPr>
      </p:pic>
      <p:pic>
        <p:nvPicPr>
          <p:cNvPr id="3" name="图片 2" descr="61121629d2457c85bcb9df0bbc96883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005580" y="1177925"/>
            <a:ext cx="2898775" cy="5153025"/>
          </a:xfrm>
          <a:prstGeom prst="rect">
            <a:avLst/>
          </a:prstGeom>
        </p:spPr>
      </p:pic>
      <p:pic>
        <p:nvPicPr>
          <p:cNvPr id="4" name="图片 3" descr="14bd7b46e015919ee2de9fa9a5dd129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839075" y="1177925"/>
            <a:ext cx="2898775" cy="515239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367665" y="709930"/>
            <a:ext cx="18986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宝宝的</a:t>
            </a:r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纯净水</a:t>
            </a:r>
            <a:endParaRPr lang="zh-CN" altLang="en-US" b="1">
              <a:solidFill>
                <a:srgbClr val="FF0000"/>
              </a:solidFill>
              <a:highlight>
                <a:srgbClr val="FFFF00"/>
              </a:highlight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67665" y="152400"/>
            <a:ext cx="260477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solidFill>
                  <a:srgbClr val="FF0000"/>
                </a:solidFill>
                <a:highlight>
                  <a:srgbClr val="FFFF00"/>
                </a:highlight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净水模式</a:t>
            </a:r>
            <a:endParaRPr lang="zh-CN" altLang="en-US" sz="2500" b="1">
              <a:solidFill>
                <a:srgbClr val="FF0000"/>
              </a:solidFill>
              <a:highlight>
                <a:srgbClr val="FFFF00"/>
              </a:highlight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8"/>
            </p:custDataLst>
          </p:nvPr>
        </p:nvSpPr>
        <p:spPr>
          <a:xfrm>
            <a:off x="4816475" y="709930"/>
            <a:ext cx="17919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老婆的</a:t>
            </a:r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弱碱水</a:t>
            </a:r>
            <a:endParaRPr lang="zh-CN" altLang="en-US" b="1">
              <a:solidFill>
                <a:srgbClr val="FF0000"/>
              </a:solidFill>
              <a:highlight>
                <a:srgbClr val="FFFF00"/>
              </a:highlight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9"/>
            </p:custDataLst>
          </p:nvPr>
        </p:nvSpPr>
        <p:spPr>
          <a:xfrm>
            <a:off x="8148955" y="709930"/>
            <a:ext cx="22790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老公的</a:t>
            </a:r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矿泉水</a:t>
            </a:r>
            <a:endParaRPr lang="zh-CN" altLang="en-US" b="1">
              <a:solidFill>
                <a:srgbClr val="FF0000"/>
              </a:solidFill>
              <a:highlight>
                <a:srgbClr val="FFFF00"/>
              </a:highlight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73710" y="6277610"/>
            <a:ext cx="76803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  <a:latin typeface="PingFang SC Semibold" panose="020B0400000000000000" charset="-122"/>
                <a:ea typeface="PingFang SC Semibold" panose="020B0400000000000000" charset="-122"/>
              </a:rPr>
              <a:t>道具：奶瓶、奶粉、透明无</a:t>
            </a:r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  <a:latin typeface="PingFang SC Semibold" panose="020B0400000000000000" charset="-122"/>
                <a:ea typeface="PingFang SC Semibold" panose="020B0400000000000000" charset="-122"/>
              </a:rPr>
              <a:t>品牌酒瓶、</a:t>
            </a:r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  <a:latin typeface="PingFang SC Semibold" panose="020B0400000000000000" charset="-122"/>
                <a:ea typeface="PingFang SC Semibold" panose="020B0400000000000000" charset="-122"/>
              </a:rPr>
              <a:t>茶杯</a:t>
            </a:r>
            <a:endParaRPr lang="zh-CN" altLang="en-US" b="1">
              <a:solidFill>
                <a:srgbClr val="FF0000"/>
              </a:solidFill>
              <a:highlight>
                <a:srgbClr val="FFFF00"/>
              </a:highlight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</p:spTree>
    <p:custDataLst>
      <p:tags r:id="rId10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DIAGRAM_VIRTUALLY_FRAME" val="{&quot;height&quot;:391.55,&quot;left&quot;:28.95,&quot;top&quot;:55.9,&quot;width&quot;:847.85}"/>
</p:tagLst>
</file>

<file path=ppt/tags/tag68.xml><?xml version="1.0" encoding="utf-8"?>
<p:tagLst xmlns:p="http://schemas.openxmlformats.org/presentationml/2006/main">
  <p:tag name="KSO_WM_DIAGRAM_VIRTUALLY_FRAME" val="{&quot;height&quot;:391.55,&quot;left&quot;:28.95,&quot;top&quot;:55.9,&quot;width&quot;:847.85}"/>
</p:tagLst>
</file>

<file path=ppt/tags/tag69.xml><?xml version="1.0" encoding="utf-8"?>
<p:tagLst xmlns:p="http://schemas.openxmlformats.org/presentationml/2006/main">
  <p:tag name="KSO_WM_DIAGRAM_VIRTUALLY_FRAME" val="{&quot;height&quot;:391.55,&quot;left&quot;:28.95,&quot;top&quot;:55.9,&quot;width&quot;:847.85}"/>
</p:tagLst>
</file>

<file path=ppt/tags/tag70.xml><?xml version="1.0" encoding="utf-8"?>
<p:tagLst xmlns:p="http://schemas.openxmlformats.org/presentationml/2006/main">
  <p:tag name="KSO_WM_DIAGRAM_VIRTUALLY_FRAME" val="{&quot;height&quot;:391.55,&quot;left&quot;:28.95,&quot;top&quot;:55.9,&quot;width&quot;:847.85}"/>
</p:tagLst>
</file>

<file path=ppt/tags/tag71.xml><?xml version="1.0" encoding="utf-8"?>
<p:tagLst xmlns:p="http://schemas.openxmlformats.org/presentationml/2006/main">
  <p:tag name="KSO_WM_DIAGRAM_VIRTUALLY_FRAME" val="{&quot;height&quot;:391.55,&quot;left&quot;:28.95,&quot;top&quot;:55.9,&quot;width&quot;:847.85}"/>
</p:tagLst>
</file>

<file path=ppt/tags/tag72.xml><?xml version="1.0" encoding="utf-8"?>
<p:tagLst xmlns:p="http://schemas.openxmlformats.org/presentationml/2006/main">
  <p:tag name="KSO_WM_DIAGRAM_VIRTUALLY_FRAME" val="{&quot;height&quot;:391.55,&quot;left&quot;:28.95,&quot;top&quot;:55.9,&quot;width&quot;:847.85}"/>
</p:tagLst>
</file>

<file path=ppt/tags/tag73.xml><?xml version="1.0" encoding="utf-8"?>
<p:tagLst xmlns:p="http://schemas.openxmlformats.org/presentationml/2006/main">
  <p:tag name="KSO_WM_DIAGRAM_VIRTUALLY_FRAME" val="{&quot;height&quot;:391.55,&quot;left&quot;:28.95,&quot;top&quot;:55.9,&quot;width&quot;:847.85}"/>
</p:tagLst>
</file>

<file path=ppt/tags/tag74.xml><?xml version="1.0" encoding="utf-8"?>
<p:tagLst xmlns:p="http://schemas.openxmlformats.org/presentationml/2006/main">
  <p:tag name="KSO_WM_DIAGRAM_VIRTUALLY_FRAME" val="{&quot;height&quot;:391.55,&quot;left&quot;:28.95,&quot;top&quot;:55.9,&quot;width&quot;:847.85}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DIAGRAM_VIRTUALLY_FRAME" val="{&quot;height&quot;:442.6,&quot;left&quot;:17.5,&quot;top&quot;:55.9,&quot;width&quot;:859.3}"/>
</p:tagLst>
</file>

<file path=ppt/tags/tag77.xml><?xml version="1.0" encoding="utf-8"?>
<p:tagLst xmlns:p="http://schemas.openxmlformats.org/presentationml/2006/main">
  <p:tag name="KSO_WM_DIAGRAM_VIRTUALLY_FRAME" val="{&quot;height&quot;:442.6,&quot;left&quot;:17.5,&quot;top&quot;:55.9,&quot;width&quot;:859.3}"/>
</p:tagLst>
</file>

<file path=ppt/tags/tag78.xml><?xml version="1.0" encoding="utf-8"?>
<p:tagLst xmlns:p="http://schemas.openxmlformats.org/presentationml/2006/main">
  <p:tag name="KSO_WM_DIAGRAM_VIRTUALLY_FRAME" val="{&quot;height&quot;:442.6,&quot;left&quot;:17.5,&quot;top&quot;:55.9,&quot;width&quot;:859.3}"/>
</p:tagLst>
</file>

<file path=ppt/tags/tag79.xml><?xml version="1.0" encoding="utf-8"?>
<p:tagLst xmlns:p="http://schemas.openxmlformats.org/presentationml/2006/main">
  <p:tag name="KSO_WM_DIAGRAM_VIRTUALLY_FRAME" val="{&quot;height&quot;:442.6,&quot;left&quot;:17.5,&quot;top&quot;:55.9,&quot;width&quot;:859.3}"/>
</p:tagLst>
</file>

<file path=ppt/tags/tag80.xml><?xml version="1.0" encoding="utf-8"?>
<p:tagLst xmlns:p="http://schemas.openxmlformats.org/presentationml/2006/main">
  <p:tag name="KSO_WM_DIAGRAM_VIRTUALLY_FRAME" val="{&quot;height&quot;:442.6,&quot;left&quot;:17.5,&quot;top&quot;:55.9,&quot;width&quot;:859.3}"/>
</p:tagLst>
</file>

<file path=ppt/tags/tag81.xml><?xml version="1.0" encoding="utf-8"?>
<p:tagLst xmlns:p="http://schemas.openxmlformats.org/presentationml/2006/main">
  <p:tag name="KSO_WM_DIAGRAM_VIRTUALLY_FRAME" val="{&quot;height&quot;:442.6,&quot;left&quot;:17.5,&quot;top&quot;:55.9,&quot;width&quot;:859.3}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1825</Words>
  <Application>WPS 演示</Application>
  <PresentationFormat>宽屏</PresentationFormat>
  <Paragraphs>56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Arial</vt:lpstr>
      <vt:lpstr>宋体</vt:lpstr>
      <vt:lpstr>Wingdings</vt:lpstr>
      <vt:lpstr>Wingdings</vt:lpstr>
      <vt:lpstr>PingFang SC Semibold</vt:lpstr>
      <vt:lpstr>微软雅黑</vt:lpstr>
      <vt:lpstr>汉仪旗黑</vt:lpstr>
      <vt:lpstr>宋体</vt:lpstr>
      <vt:lpstr>Arial Unicode MS</vt:lpstr>
      <vt:lpstr>苹方-简</vt:lpstr>
      <vt:lpstr>汉仪书宋二KW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潘潘是个胖小子</cp:lastModifiedBy>
  <cp:revision>423</cp:revision>
  <dcterms:created xsi:type="dcterms:W3CDTF">2026-03-17T07:59:49Z</dcterms:created>
  <dcterms:modified xsi:type="dcterms:W3CDTF">2026-03-17T07:59:49Z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2052-12.1.25195.25195</vt:lpwstr>
  </property>
  <property fmtid="{D5CDD505-2E9C-101B-9397-08002B2CF9AE}" pid="3" name="ICV">
    <vt:lpwstr>4A3B407F60FD581E977EB7695F0DB61C_41</vt:lpwstr>
  </property>
</Properties>
</file>